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Diga olá à banca, introduza seu nome e o título do projeto.</a:t>
            </a:r>
          </a:p>
          <a:p>
            <a:r>
              <a:t>Contexto: Explique que o projeto visa construir um sistema inteligente de multiagentes capaz de extrair e analisar de forma cognitivamente confiável volumes gigantes de dados do Portal da Transparência.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Explique o porquê de auditorias de contas públicas serem lentas.</a:t>
            </a:r>
          </a:p>
          <a:p>
            <a:r>
              <a:t>O volume do Portal da Transparência (~1.7GB) satura qualquer modelo tradicional. Se injetar tudo de uma vez, estoura o limite ou alucina. Daí surge o gargalo que motivou o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Esclareça para a banca o que é entregue nesta etapa preliminar. O escopo é provar que a engenharia de dados + agentes + RAG funciona com acurácia factual de 100%, preparando o terreno para a fase de testes unitários rigorosos do estágio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Destaque o fluxo de dados horizontal de ponta a ponta. Explique que o segredo do sistema são os checkpoints físicos gerados entre cada etapa (.json de resumos, .txt de relatório e vetores persistidos), eliminando processamentos redundantes.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Enfatize que a IA não faz contas do zero. Os valores agregados de receitas e despesas são calculados em Python e fornecidos estruturalmente para a IA. O SQLite funciona como a âncora da verdade matemática do TCC.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Explique o conceito de design de isolamento. Dividir para conquistar. Ao separar as especialidades da IA, garantimos foco analítico elevado e eliminamos custos de tokens inúteis.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Explique a escolha das ferramentas. O Gemini 3.5 Flash é ideal para o processamento veloz de resumos fiscais. Destaque o uso da CLI 'agy' do Antigravity rodando no backend.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Apresente com orgulho os dados macro da auditoria consolidada. Chame atenção para a precisão nas casas decimais dos valores brutos que estão embutidos nos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Destaque o número de 43,26% da UG 170600. É o principal achado de auditoria. Explique como o sistema correlacionou esse gasto massivo com a asfixia de outras pastas (como Transportes e Ciência).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Explique a arquitetura do RAG Híbrido Ativo. O relatório consolidado é injetado na íntegra porque é pequeno (~11KB) e garante que a IA sempre responda dados macros sem falhar em buscas semânticas aproximadas.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Apresente os três cenários de respostas que você acabou de validar em código no console de testes. Isso mostra à banca que o RAG possui barreiras robustas e previsibilidade industrial contra erros.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Foco da fala: Agradeça à banca pelo tempo, reafirme que a Etapa 1 foi concluída e apresente o cronograma de testes do Estágio 2 que serão mostrados rodando na quarta-feira.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73152" cy="292608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18288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000" b="1">
                <a:solidFill>
                  <a:srgbClr val="FFFFFF"/>
                </a:solidFill>
                <a:latin typeface="Georgia"/>
              </a:defRPr>
            </a:pPr>
            <a:r>
              <a:t>Auditoria Orçamentária Cognitiva com</a:t>
            </a:r>
            <a:br/>
            <a:r>
              <a:t>Multiagentes e RAG Híbrido Ativo</a:t>
            </a:r>
          </a:p>
          <a:p>
            <a:pPr>
              <a:spcAft>
                <a:spcPts val="2800"/>
              </a:spcAft>
              <a:defRPr sz="1800">
                <a:solidFill>
                  <a:srgbClr val="94A3B8"/>
                </a:solidFill>
                <a:latin typeface="Calibri"/>
              </a:defRPr>
            </a:pPr>
            <a:r>
              <a:t>Infraestrutura Inteligente de Consolidação e Consulta de Dados Fiscais da União</a:t>
            </a:r>
          </a:p>
          <a:p>
            <a:pPr>
              <a:defRPr sz="1200" i="1">
                <a:solidFill>
                  <a:srgbClr val="94A3B8"/>
                </a:solidFill>
                <a:latin typeface="Calibri"/>
              </a:defRPr>
            </a:pPr>
            <a:r>
              <a:t>Defesa de TCC  •  Apresentação de Resultados Preliminares (Etapa 1)</a:t>
            </a:r>
            <a:br/>
            <a:r>
              <a:t>Orientador Técnico &amp; Acadêmico  •  Maio de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Calibri"/>
              </a:defRPr>
            </a:pPr>
            <a:r>
              <a:t>Defesa de TCC  •  Resultados Preliminares (Etapa 1)  •  Slide 1 de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O Problema dos Dados Públicos Federais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1. Assimetria de Estrutura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As Receitas Federais são planejadas anualmente, mas a sua realização ocorre sob dinâmicas diárias. Em contraste, as Despesas ocorrem de forma contínua sob o controle mensal de centenas de Unidades Gestoras (UGs), dificultando cruzamentos rápidos de fluxos fiscais.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2. Limitação de Contexto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Planilhas brutas e arquivos CSV de transações governamentais possuem dimensões de gigabytes (milhões de registros). LLMs comerciais puras falham na tentativa de ingestão direta devido a limitações rígidas de tokens de contexto.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3. Custo e Alucinação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 injeção ingênua ou incompleta de dados orçamentários causa altos índices de alucinação factual por parte da IA. Além disso, a injeção excessiva infla a contagem de tokens de entrada, elevando de forma insustentável o custo financeiro da API.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2 de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Objetivo e Fronteira de Escopo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Escopo da Pesquisa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Desenvolver e demonstrar a viabilidade de uma arquitetura multiagente acoplada a um motor de RAG híbrido ativo, garantindo respostas factuais sem alucinações baseadas em dados consolidados de receitas e despesas federais.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Metas da Etapa 1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• Ingestão relacional estável de dados brutos.</a:t>
            </a:r>
            <a:br/>
            <a:r>
              <a:t>• Geração de resumos e pareceres cognitivos.</a:t>
            </a:r>
            <a:br/>
            <a:r>
              <a:t>• Consolidação final de auditoria pelo Auditor-Chefe.</a:t>
            </a:r>
            <a:br/>
            <a:r>
              <a:t>• Indexação das fichas ministeriais no ChromaDB.</a:t>
            </a:r>
            <a:br/>
            <a:r>
              <a:t>• Chat funcional factualmente consistente.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Limites do Projeto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 objetivo primordial desta etapa é a validação de arquitetura e prova de conceito factual e matemático, não a criação de uma ferramenta de monitoramento orçamentário em tempo real para produção.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3 de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Arquitetura Macro do Sistema (As 5 Etapas)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Etapa 1</a:t>
            </a:r>
            <a:br/>
            <a:r>
              <a:t>ETL &amp; SQLite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Ingestão e normalização de CSVs brutos em banco relacional local (transparencia.db). Pré-computação de somas fiscais para alimentar os dicionários semânticos.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907792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Etapa 2</a:t>
            </a:r>
            <a:br/>
            <a:r>
              <a:t>Agentes IA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Processamento assíncrono paralelo com agentes especialistas cognitivos de Receita e Despesa, mitigando riscos de estouro de tokens de contexto.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84064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Etapa 3</a:t>
            </a:r>
            <a:br/>
            <a:r>
              <a:t>Síntese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Agente Auditor-Chefe cruza os pareceres técnicos das receitas e despesas, gerando o Relatório Consolidado de auditoria geral da União.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60336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Etapa 4</a:t>
            </a:r>
            <a:br/>
            <a:r>
              <a:t>Indexação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Geração de fichas de Ministérios (com UGs líderes e participações percentuais) segmentadas e indexadas no banco vetorial ChromaDB.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436608" y="1828800"/>
            <a:ext cx="2011680" cy="3840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Etapa 5</a:t>
            </a:r>
            <a:br/>
            <a:r>
              <a:t>RAG Híbrido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Interface de chat. Injeção fixa do parecer consolidado macro e busca vetorial complementar de top-8 fichas no ChromaDB para refinar a precisão.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4 de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Etapa 1 — Ingestão e Normalização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Banco Relacional SQLite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Os arquivos CSV de receitas e despesas, que somam milhões de registros, são limpos e carregados em tabelas SQL indexadas em 'transparencia.db'. Isso permite consultas estatísticas relacionais rápidas em sub-milissegundos.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Dicionários Semânticos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Os códigos SIAFI da União (ex: órgãos superiores, UGs) são traduzidos em metadados explicativos em arquivos JSON locais. Isso fornece contexto textual sobre a área de atuação do órgão para o processamento da IA.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Pré-computação de Dados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Os cálculos matemáticos (totais, desvios fiscais, metas) são calculados deterministicamente pelo pipeline de dados em Python. Isso evita erros de cálculo aritmético na LLM (fraqueza comum de IAs gerativas).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5 de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Estratégia de RAG Especialista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Isolamento de Subcontexto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Em vez de enviar despesas e receitas juntas em um prompt massivo, o pipeline separa a análise em dois subprocessos independentes e assíncronos. A IA foca em domínios isolados de auditoria.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Filtragem Granular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Os dados brutos individuais de transações são removidos do JSON antes de serem enviados aos agentes especialistas de IA. Somente as agregações e metadados institucionais de alto nível são mantidos.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Prevenção de OOM &amp; Timeouts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Esse afunilamento de dados garante que a API nunca sofra de Out-Of-Memory (estouro de memória) ou timeouts de inferência por excesso de tokens nas chamadas aos agentes cognitivos.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6 de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Seleção Tecnológica: Custo e Janela de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Google Gemini 3.5 Flash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Selecionado por apresentar excelente balanço entre velocidade de inferência, estabilidade lógica de processamento e uma janela de contexto massiva de 1 milhão de tokens.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CLI Antigravity (agy)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 CLI 'agy' local é acionada programaticamente via Python (asyncio). Ela é configurada com bypass de permissões interativas, executando chamadas limpas não-interativas via `--print -`.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Eficiência de Custo e Token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Com o Gemini 3.5 Flash, o custo financeiro por token é desprezível e o tempo de resposta em lote é reduzido em até 70% comparado a modelos gigantes de mesma janela (como Gemini Pro ou Claude 3.5).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7 de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Resultados Orçamentários Preliminares (Dados Globais)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RECEITA REALIZADA</a:t>
            </a:r>
          </a:p>
          <a:p>
            <a:pPr>
              <a:spcAft>
                <a:spcPts val="2000"/>
              </a:spcAft>
              <a:defRPr sz="4400" b="1">
                <a:solidFill>
                  <a:srgbClr val="0D9488"/>
                </a:solidFill>
                <a:latin typeface="Georgia"/>
              </a:defRPr>
            </a:pPr>
            <a:r>
              <a:t>R$ 5,61 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Valor Total Arrecadado consolidado pela União no período analisado.</a:t>
            </a:r>
            <a:br/>
            <a:br/>
            <a:r>
              <a:t>Valor bruto exato:</a:t>
            </a:r>
            <a:br/>
            <a:r>
              <a:t>R$ 5.614.085.003.109,29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DESPESA TOTAL EXECUTADA</a:t>
            </a:r>
          </a:p>
          <a:p>
            <a:pPr>
              <a:spcAft>
                <a:spcPts val="2000"/>
              </a:spcAft>
              <a:defRPr sz="4400" b="1">
                <a:solidFill>
                  <a:srgbClr val="2563EB"/>
                </a:solidFill>
                <a:latin typeface="Georgia"/>
              </a:defRPr>
            </a:pPr>
            <a:r>
              <a:t>R$ 4,92 T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Valor Total Liquidado orçamentário consolidado no exercício financeiro.</a:t>
            </a:r>
            <a:br/>
            <a:br/>
            <a:r>
              <a:t>Valor bruto exato:</a:t>
            </a:r>
            <a:br/>
            <a:r>
              <a:t>R$ 4.918.932.931.791,45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274320"/>
          <a:lstStyle/>
          <a:p>
            <a:pPr algn="ctr">
              <a:spcAft>
                <a:spcPts val="20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DESVIO DE ARRECADAÇÃO (METAS)</a:t>
            </a:r>
          </a:p>
          <a:p>
            <a:pPr>
              <a:spcAft>
                <a:spcPts val="2000"/>
              </a:spcAft>
              <a:defRPr sz="4400" b="1">
                <a:solidFill>
                  <a:srgbClr val="DC2626"/>
                </a:solidFill>
                <a:latin typeface="Georgia"/>
              </a:defRPr>
            </a:pPr>
            <a:r>
              <a:t>-1,86%</a:t>
            </a:r>
          </a:p>
          <a:p>
            <a:pPr>
              <a:defRPr sz="1200">
                <a:solidFill>
                  <a:srgbClr val="475569"/>
                </a:solidFill>
                <a:latin typeface="Calibri"/>
              </a:defRPr>
            </a:pPr>
            <a:r>
              <a:t>Frustração de receita líquida frente à meta orçada atualizada planejada.</a:t>
            </a:r>
            <a:br/>
            <a:br/>
            <a:r>
              <a:t>Déficit nominal de receita:</a:t>
            </a:r>
            <a:br/>
            <a:r>
              <a:t>-R$ 106.176.094.460,01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8 de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Identificação de Gargalos Estruturais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4937760" cy="3931920"/>
          </a:xfrm>
          <a:prstGeom prst="round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365760" lIns="365760"/>
          <a:lstStyle/>
          <a:p>
            <a:pPr algn="ctr">
              <a:spcAft>
                <a:spcPts val="2000"/>
              </a:spcAft>
              <a:defRPr sz="1100" b="1">
                <a:solidFill>
                  <a:srgbClr val="475569"/>
                </a:solidFill>
                <a:latin typeface="Calibri"/>
              </a:defRPr>
            </a:pPr>
            <a:r>
              <a:t>O MAIOR GARGALO ORÇAMENTÁRIO (UG LÍDER DE GASTOS)</a:t>
            </a:r>
          </a:p>
          <a:p>
            <a:pPr>
              <a:spcAft>
                <a:spcPts val="2000"/>
              </a:spcAft>
              <a:defRPr sz="6400" b="1">
                <a:solidFill>
                  <a:srgbClr val="DC2626"/>
                </a:solidFill>
                <a:latin typeface="Georgia"/>
              </a:defRPr>
            </a:pPr>
            <a:r>
              <a:t>43,26%</a:t>
            </a:r>
          </a:p>
          <a:p>
            <a:pPr>
              <a:defRPr sz="1300">
                <a:solidFill>
                  <a:srgbClr val="475569"/>
                </a:solidFill>
                <a:latin typeface="Calibri"/>
              </a:defRPr>
            </a:pPr>
            <a:r>
              <a:t>De toda a despesa orçamentária executada pela União (R$ 2,13 trilhões) foi consumida pela COGEP (UG 170600) para o pagamento/serviço da dívida pública federal.</a:t>
            </a:r>
            <a:br/>
            <a:br/>
            <a:r>
              <a:t>Isso representa o principal gargalo macroeconômico e fator de asfixia fiscal sobre investimentos de infraestrutura.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1737360"/>
            <a:ext cx="5486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Rigidez Fiscais e Limites Constitucionais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 Previdência Social gasta R$ 1,10 trilhão (22,33%) e a Fazenda R$ 2,67 trilhões (54,36%) devido a direitos adquiridos obrigatórios e serviços da dívida, limitando investimentos discricionários.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0" y="3840480"/>
            <a:ext cx="54864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Validação Conclusiva de IA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 Auditor-Chefe processa esses dados correlacionados de receitas e despesas estruturadas e classifica de forma conclusiva a situação fiscal como 'Negativa'.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9 de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Etapa 5 — Mecanismos Antialucinação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1. Injeção Fixa de Macrossíntese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 Relatório Geral de Auditoria consolidado na Etapa 3 (Auditor-Chefe) é injetado de forma estática no prompt. Isso garante que a IA sempre possua acesso e precisão factual sobre os dados agregados da União.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2. Recuperação Vetorial Seletiva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 busca no ChromaDB é limitada a top-8 resultados para extrair somente dados locais minuciosos (fichas específicas dos Ministérios e rankings locais de UGs), impedindo poluição da janela de contexto.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3. Tratamento Estrito de Negativas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O prompt de sistema obriga a IA a responder de forma padronizada 'A informação não consta no CSV' se os dados de fato não estiverem indexados, ou a frase padrão de erro se faltarem dados para cálculo.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10 de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2563EB"/>
                </a:solidFill>
                <a:latin typeface="Calibri"/>
              </a:defRPr>
            </a:pPr>
            <a:r>
              <a:t>TCC | AUDITORIA COGNITIVA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10698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0F172A"/>
                </a:solidFill>
                <a:latin typeface="Georgia"/>
              </a:defRPr>
            </a:pPr>
            <a:r>
              <a:t>Casos de Teste na Demonstração Prática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Cenário A: Sucesso Factual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Ao perguntar qual a UG com maior despesa no Ministério da Fazenda, o RAG localiza o ranking da ficha da Fazenda e responde com precisão: COGEP (UG 170600), detalhando os R$ 2,12 trilhões e percentuais.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Cenário B: Bloqueio de Alucinação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Ao perguntar sobre o gasto de um ministério inexistente ou ano fiscal não processado, o bloqueador antialucinação é acionado, retornando exatamente: 'A informação não consta nos dados extraídos dos arquivos CSV'.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737360"/>
            <a:ext cx="3328416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0F172A"/>
                </a:solidFill>
                <a:latin typeface="Georgia"/>
              </a:defRPr>
            </a:pPr>
            <a:r>
              <a:t>Cenário C: Falha de Processamento</a:t>
            </a:r>
          </a:p>
          <a:p>
            <a:pPr>
              <a:spcBef>
                <a:spcPts val="0"/>
              </a:spcBef>
              <a:defRPr sz="1200">
                <a:solidFill>
                  <a:srgbClr val="475569"/>
                </a:solidFill>
                <a:latin typeface="Calibri"/>
              </a:defRPr>
            </a:pPr>
            <a:r>
              <a:t>Ao simular um erro de rede ou chave de API desativada, o sistema intercepta o erro no backend e devolve: 'Teve um erro no processamento e não tenho acesso a essa informação, solicitando um novo processamento.'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475569"/>
                </a:solidFill>
                <a:latin typeface="Calibri"/>
              </a:defRPr>
            </a:pPr>
            <a:r>
              <a:t>Defesa de TCC  •  Resultados Preliminares (Etapa 1)  •  Slide 11 de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640080"/>
            <a:ext cx="106984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FFFFF"/>
                </a:solidFill>
                <a:latin typeface="Georgia"/>
              </a:defRPr>
            </a:pPr>
            <a:r>
              <a:t>Próximos Passos: Da Ingestão à Validação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Conclusão da Etapa 1</a:t>
            </a:r>
          </a:p>
          <a:p>
            <a:pPr>
              <a:spcBef>
                <a:spcPts val="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Toda a infraestrutura de dados (ETL, normalização, enriquecimento, multiagentes e indexação vetorial) está estável, com consistência lógica e factual demonstrada nos resultados preliminares.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425696" y="1828800"/>
            <a:ext cx="3328416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Metas do Estágio 2</a:t>
            </a:r>
          </a:p>
          <a:p>
            <a:pPr>
              <a:spcBef>
                <a:spcPts val="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Construção imediata de uma suíte robusta de testes unitários automatizados em Python (usando o framework pytest) para provar de forma matemática a consistência factual e de integridade do pipeline.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119872" y="1828800"/>
            <a:ext cx="3328416" cy="393192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>
              <a:spcAft>
                <a:spcPts val="1000"/>
              </a:spcAft>
              <a:defRPr sz="1500" b="1">
                <a:solidFill>
                  <a:srgbClr val="FFFFFF"/>
                </a:solidFill>
                <a:latin typeface="Georgia"/>
              </a:defRPr>
            </a:pPr>
            <a:r>
              <a:t>Métricas Finais de Sucesso</a:t>
            </a:r>
          </a:p>
          <a:p>
            <a:pPr>
              <a:spcBef>
                <a:spcPts val="0"/>
              </a:spcBef>
              <a:defRPr sz="1200">
                <a:solidFill>
                  <a:srgbClr val="94A3B8"/>
                </a:solidFill>
                <a:latin typeface="Calibri"/>
              </a:defRPr>
            </a:pPr>
            <a:r>
              <a:t>• Asserções matemáticas de tabelas SQLite contra CSVs originais.</a:t>
            </a:r>
            <a:br/>
            <a:r>
              <a:t>• Validação estrutural de esquemas JSON.</a:t>
            </a:r>
            <a:br/>
            <a:r>
              <a:t>• Testes de integridade semântica no banco vetorial.</a:t>
            </a:r>
            <a:br/>
            <a:r>
              <a:t>• Validações de regex em outputs.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>
                <a:solidFill>
                  <a:srgbClr val="94A3B8"/>
                </a:solidFill>
                <a:latin typeface="Calibri"/>
              </a:defRPr>
            </a:pPr>
            <a:r>
              <a:t>Defesa de TCC  •  Resultados Preliminares (Etapa 1)  •  Slide 12 de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